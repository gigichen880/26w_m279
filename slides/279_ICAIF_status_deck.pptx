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4A8A"/>
                </a:solidFill>
                <a:latin typeface="Avenir Next"/>
              </a:rPr>
              <a:t>MATH 279 PROJECT → ICAIF 2026 SUBMISSION  ·  STATUS REVIEW  ·  JULY 28,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10515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F252D"/>
                </a:solidFill>
                <a:latin typeface="Georgia"/>
              </a:rPr>
              <a:t>Regime-Aware Similarity Forecasting of Equity Covariance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78992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5A6371"/>
                </a:solidFill>
                <a:latin typeface="Georgia"/>
              </a:rPr>
              <a:t>An honest re-evaluation: the model matches — but does not beat — properly constructed baselines out-of-sample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1783080"/>
          </a:xfrm>
          <a:prstGeom prst="roundRect">
            <a:avLst>
              <a:gd name="adj" fmla="val 4500"/>
            </a:avLst>
          </a:prstGeom>
          <a:solidFill>
            <a:srgbClr val="ED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5B4A8A"/>
                </a:solidFill>
                <a:latin typeface="Avenir Next"/>
              </a:rPr>
              <a:t>SUMMARY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52D"/>
                </a:solidFill>
                <a:latin typeface="Georgia"/>
              </a:rPr>
              <a:t>Question: </a:t>
            </a:r>
            <a:r>
              <a:rPr sz="1150" b="0" i="0">
                <a:solidFill>
                  <a:srgbClr val="1F252D"/>
                </a:solidFill>
                <a:latin typeface="Georgia"/>
              </a:rPr>
              <a:t>does conditioning similarity-based (kNN) covariance forecasts on market regimes improve portfolio outcomes over standard estimators?  </a:t>
            </a:r>
            <a:r>
              <a:rPr sz="1150" b="1" i="0">
                <a:solidFill>
                  <a:srgbClr val="1F252D"/>
                </a:solidFill>
                <a:latin typeface="Georgia"/>
              </a:rPr>
              <a:t>Answer, after two audit passes: no.</a:t>
            </a:r>
            <a:r>
              <a:rPr sz="1150" b="0" i="0">
                <a:solidFill>
                  <a:srgbClr val="1F252D"/>
                </a:solidFill>
                <a:latin typeface="Georgia"/>
              </a:rPr>
              <a:t>  The April performance win (GMVP Sharpe 1.57 vs 1.00) was an evaluation artifact. On the corrected harness the model is a statistical tie with every baseline on GMVP Sharpe, loses Stein/KL to Ledoit-Wolf, and loses volatility to HAR. What survives is diagnostic: the model adds value in calm/“Normal” conditions and reliably hurts in stress — the reverse of the draft’s claim — plus a clean statistical-vs-economic disconnect.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43400"/>
            <a:ext cx="347472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B4A8A"/>
                </a:solidFill>
                <a:latin typeface="Avenir Next"/>
              </a:rPr>
              <a:t>369 → 662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1"/>
                </a:solidFill>
                <a:latin typeface="Avenir Next"/>
              </a:rPr>
              <a:t>valid GMVP evaluation dates after the NaN fix — the GFC is now actually in the sample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343400"/>
            <a:ext cx="347472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B4A8A"/>
                </a:solidFill>
                <a:latin typeface="Avenir Next"/>
              </a:rPr>
              <a:t>2008–16 / 2017–21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1"/>
                </a:solidFill>
                <a:latin typeface="Avenir Next"/>
              </a:rPr>
              <a:t>tune / held-out split — every headline number on this deck is out-of-sample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343400"/>
            <a:ext cx="347472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B4A8A"/>
                </a:solidFill>
                <a:latin typeface="Avenir Next"/>
              </a:rPr>
              <a:t>Aug 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1"/>
                </a:solidFill>
                <a:latin typeface="Avenir Next"/>
              </a:rPr>
              <a:t>ICAIF full-paper deadline (AoE) — 5 days out; the draft still asserts the April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52D"/>
                </a:solidFill>
                <a:latin typeface="Georgia"/>
              </a:rPr>
              <a:t>Goal of this meeting: pick a framing (final two slides) and divide the rewrite.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A6371"/>
                </a:solidFill>
                <a:latin typeface="Avenir Next"/>
              </a:rPr>
              <a:t>Devansh Mishra · Gigi Chen  ·  supervised by Mihai Cucuringu  ·  numbers frozen Jul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4A8A"/>
                </a:solidFill>
                <a:latin typeface="Avenir Next"/>
              </a:rPr>
              <a:t>1 · PIPELINE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252D"/>
                </a:solidFill>
                <a:latin typeface="Georgia"/>
              </a:rPr>
              <a:t>What the system is and how it is judged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4A8A"/>
                </a:solidFill>
                <a:latin typeface="Avenir Next"/>
              </a:rPr>
              <a:t>Data &amp; task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100" b="0" i="0">
                <a:solidFill>
                  <a:srgbClr val="1F252D"/>
                </a:solidFill>
                <a:latin typeface="Georgia"/>
              </a:rPr>
              <a:t>100 US equities, daily returns 2007–2021 (~98.5% availability; spans the GFC and COVID). Walk-forward: fit on an expanding window, forecast the 100×100 covariance over the next 20 trading days; refit every 20 days, evaluate every 5.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200" b="1" i="0">
                <a:solidFill>
                  <a:srgbClr val="5B4A8A"/>
                </a:solidFill>
                <a:latin typeface="Avenir Next"/>
              </a:rPr>
              <a:t>Five-stage model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100" b="1" i="0">
                <a:solidFill>
                  <a:srgbClr val="1F252D"/>
                </a:solidFill>
                <a:latin typeface="Georgia"/>
              </a:rPr>
              <a:t>Embed</a:t>
            </a:r>
            <a:r>
              <a:rPr sz="1100" b="0" i="0">
                <a:solidFill>
                  <a:srgbClr val="1F252D"/>
                </a:solidFill>
                <a:latin typeface="Georgia"/>
              </a:rPr>
              <a:t> each rolling 50-day return window via PCA (k=48)  →  </a:t>
            </a:r>
            <a:r>
              <a:rPr sz="1100" b="1" i="0">
                <a:solidFill>
                  <a:srgbClr val="1F252D"/>
                </a:solidFill>
                <a:latin typeface="Georgia"/>
              </a:rPr>
              <a:t>cluster</a:t>
            </a:r>
            <a:r>
              <a:rPr sz="1100" b="0" i="0">
                <a:solidFill>
                  <a:srgbClr val="1F252D"/>
                </a:solidFill>
                <a:latin typeface="Georgia"/>
              </a:rPr>
              <a:t> embeddings into K=4 soft regimes (fuzzy c-means)  →  </a:t>
            </a:r>
            <a:r>
              <a:rPr sz="1100" b="1" i="0">
                <a:solidFill>
                  <a:srgbClr val="1F252D"/>
                </a:solidFill>
                <a:latin typeface="Georgia"/>
              </a:rPr>
              <a:t>filter</a:t>
            </a:r>
            <a:r>
              <a:rPr sz="1100" b="0" i="0">
                <a:solidFill>
                  <a:srgbClr val="1F252D"/>
                </a:solidFill>
                <a:latin typeface="Georgia"/>
              </a:rPr>
              <a:t> regime posteriors through an estimated Markov transition matrix  →  </a:t>
            </a:r>
            <a:r>
              <a:rPr sz="1100" b="1" i="0">
                <a:solidFill>
                  <a:srgbClr val="1F252D"/>
                </a:solidFill>
                <a:latin typeface="Georgia"/>
              </a:rPr>
              <a:t>retrieve</a:t>
            </a:r>
            <a:r>
              <a:rPr sz="1100" b="0" i="0">
                <a:solidFill>
                  <a:srgbClr val="1F252D"/>
                </a:solidFill>
                <a:latin typeface="Georgia"/>
              </a:rPr>
              <a:t> k=10 nearest historical windows (L1 distance, exponential kernel τ=2.0)  →  </a:t>
            </a:r>
            <a:r>
              <a:rPr sz="1100" b="1" i="0">
                <a:solidFill>
                  <a:srgbClr val="1F252D"/>
                </a:solidFill>
                <a:latin typeface="Georgia"/>
              </a:rPr>
              <a:t>aggregate</a:t>
            </a:r>
            <a:r>
              <a:rPr sz="1100" b="0" i="0">
                <a:solidFill>
                  <a:srgbClr val="1F252D"/>
                </a:solidFill>
                <a:latin typeface="Georgia"/>
              </a:rPr>
              <a:t> the neighbors’ realized next-month covariances per regime (log-Euclidean SPD mean), blended by filtered regime probabilities.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100" b="0" i="0">
                <a:solidFill>
                  <a:srgbClr val="1F252D"/>
                </a:solidFill>
                <a:latin typeface="Georgia"/>
              </a:rPr>
              <a:t>Stabilizers: 12% shrink toward the diagonal, 8% posterior smoothing, SPD floor. A “mix” variant blends model 0.25 / shrinkage 0.35 / persistence 0.40. Builds on Cartea, Cucuringu &amp; Jin (2023) similarity-based forecasting — the regime layer is the addition under test.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200" b="1" i="0">
                <a:solidFill>
                  <a:srgbClr val="5B4A8A"/>
                </a:solidFill>
                <a:latin typeface="Avenir Next"/>
              </a:rPr>
              <a:t>Evaluation &amp; baselines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100" b="1" i="0">
                <a:solidFill>
                  <a:srgbClr val="1F252D"/>
                </a:solidFill>
                <a:latin typeface="Georgia"/>
              </a:rPr>
              <a:t>Statistical:</a:t>
            </a:r>
            <a:r>
              <a:rPr sz="1100" b="0" i="0">
                <a:solidFill>
                  <a:srgbClr val="1F252D"/>
                </a:solidFill>
                <a:latin typeface="Georgia"/>
              </a:rPr>
              <a:t> Frobenius, Stein, and KL losses against realized covariance.  </a:t>
            </a:r>
            <a:r>
              <a:rPr sz="1100" b="1" i="0">
                <a:solidFill>
                  <a:srgbClr val="1F252D"/>
                </a:solidFill>
                <a:latin typeface="Georgia"/>
              </a:rPr>
              <a:t>Economic:</a:t>
            </a:r>
            <a:r>
              <a:rPr sz="1100" b="0" i="0">
                <a:solidFill>
                  <a:srgbClr val="1F252D"/>
                </a:solidFill>
                <a:latin typeface="Georgia"/>
              </a:rPr>
              <a:t> Global Minimum Variance Portfolio (w ∝ Σ⁻¹𝟙, long-short) — daily tranched Sharpe, ex-post variance, turnover.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100" b="0" i="0">
                <a:solidFill>
                  <a:srgbClr val="1F252D"/>
                </a:solidFill>
                <a:latin typeface="Georgia"/>
              </a:rPr>
              <a:t>Baselines: rolling(50) · persistence · fixed-γ shrinkage, plus (added this month) </a:t>
            </a:r>
            <a:r>
              <a:rPr sz="1100" b="1" i="0">
                <a:solidFill>
                  <a:srgbClr val="1F252D"/>
                </a:solidFill>
                <a:latin typeface="Georgia"/>
              </a:rPr>
              <a:t>real Ledoit-Wolf, OAS, EWMA(0.94), and HAR</a:t>
            </a:r>
            <a:r>
              <a:rPr sz="1100" b="0" i="0">
                <a:solidFill>
                  <a:srgbClr val="1F252D"/>
                </a:solidFill>
                <a:latin typeface="Georgia"/>
              </a:rPr>
              <a:t> (volatility), all evaluated on identical anchors and portfolio construction.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4A8A"/>
                </a:solidFill>
                <a:latin typeface="Avenir Next"/>
              </a:rPr>
              <a:t>2 · WHY THE APRIL RESULTS WERE DISCARDED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252D"/>
                </a:solidFill>
                <a:latin typeface="Georgia"/>
              </a:rPr>
              <a:t>Two audit passes, five inflators — all corrected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881360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3657600"/>
                <a:gridCol w="402336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5A6371"/>
                          </a:solidFill>
                          <a:latin typeface="Avenir Next"/>
                        </a:rPr>
                        <a:t>ISSUE</a:t>
                      </a:r>
                    </a:p>
                  </a:txBody>
                  <a:tcPr marL="73152" marR="73152" marT="36576" marB="36576" anchor="ctr">
                    <a:solidFill>
                      <a:srgbClr val="EDE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5A6371"/>
                          </a:solidFill>
                          <a:latin typeface="Avenir Next"/>
                        </a:rPr>
                        <a:t>EFFECT ON RESULTS</a:t>
                      </a:r>
                    </a:p>
                  </a:txBody>
                  <a:tcPr marL="73152" marR="73152" marT="36576" marB="36576" anchor="ctr">
                    <a:solidFill>
                      <a:srgbClr val="EDE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5A6371"/>
                          </a:solidFill>
                          <a:latin typeface="Avenir Next"/>
                        </a:rPr>
                        <a:t>CORRECTION</a:t>
                      </a:r>
                    </a:p>
                  </a:txBody>
                  <a:tcPr marL="73152" marR="73152" marT="36576" marB="36576" anchor="ctr">
                    <a:solidFill>
                      <a:srgbClr val="EDEAF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252D"/>
                          </a:solidFill>
                          <a:latin typeface="Georgia"/>
                        </a:rPr>
                        <a:t>Equity-curve double-count</a:t>
                      </a:r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 — 20-day holding returns compounded once every 5 days (~4×)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Terminal wealth 9.47 (≈36%/yr for a min-variance book) was the artifact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Per-day return artifact + tranched, overlap-corrected curves. Honest TW: 1.88 (≈9%/yr); pers 1.82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252D"/>
                          </a:solidFill>
                          <a:latin typeface="Georgia"/>
                        </a:rPr>
                        <a:t>GFC silently excluded</a:t>
                      </a:r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 — one missing pre-IPO name NaN’d the whole day (fut @ w)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All of 2008–2013 dropped from GMVP evaluation — zero crisis evidence behind the abstract’s claim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Weights renormalized over tradable names daily; 369 → 662 valid dates (62 in the GFC); identity on fully-observed days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252D"/>
                          </a:solidFill>
                          <a:latin typeface="Georgia"/>
                        </a:rPr>
                        <a:t>Non-standard Sharpe</a:t>
                      </a:r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 — mean of per-window annualized Sharpes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Noisy, never defined; flattered the model (1.57 vs 1.00)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Standard whole-sample daily Sharpe on the tranched series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252D"/>
                          </a:solidFill>
                          <a:latin typeface="Georgia"/>
                        </a:rPr>
                        <a:t>In-sample tuning</a:t>
                      </a:r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 — hyperparameters selected on 2015–2021, inside the evaluation years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Selection bias in every reported number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Re-tuned on 2008–2016 only; grid re-selected the paper’s config (pca_k 40→48); 2017–21 untouched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252D"/>
                          </a:solidFill>
                          <a:latin typeface="Georgia"/>
                        </a:rPr>
                        <a:t>Strawman baselines</a:t>
                      </a:r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 — “shrinkage” was a fixed γ=0.3 diagonal blend; LW &amp; HAR cited, never run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Model’s Stein/KL “edge” existed only against weak opponents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Real Ledoit-Wolf, OAS, EWMA, HAR implemented and evaluated on the same harness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349240"/>
            <a:ext cx="10881360" cy="10058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52D"/>
                </a:solidFill>
                <a:latin typeface="Georgia"/>
              </a:rPr>
              <a:t>The April headline — GMVP Sharpe 1.57 vs 1.00, “significant vs all baselines” (Wilcoxon p&lt;0.001) — does not survive these corrections. </a:t>
            </a:r>
            <a:r>
              <a:rPr sz="1100" b="1" i="0">
                <a:solidFill>
                  <a:srgbClr val="1F252D"/>
                </a:solidFill>
                <a:latin typeface="Georgia"/>
              </a:rPr>
              <a:t>The re-tune re-selected essentially the same configuration, so the model was not handicapped: the honest evaluation, not the model, is what 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4A8A"/>
                </a:solidFill>
                <a:latin typeface="Avenir Next"/>
              </a:rPr>
              <a:t>3 · CORRECTED EVALUATION HARNESS — EVERYTHING RERUN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252D"/>
                </a:solidFill>
                <a:latin typeface="Georgia"/>
              </a:rPr>
              <a:t>Design: one honest out-of-sample pass, then significance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7472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Avenir Next"/>
              </a:rPr>
              <a:t>DAILY RETURN ARTIFACT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52D"/>
                </a:solidFill>
                <a:latin typeface="Georgia"/>
              </a:rPr>
              <a:t>run_backtest.py now emits per-day GMVP returns for every method (gmvp_daily_returns.parquet); all portfolio metrics derive from this single artifact.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00200"/>
            <a:ext cx="347472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Avenir Next"/>
              </a:rPr>
              <a:t>OOS SPLIT &amp; RE-TUNE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52D"/>
                </a:solidFill>
                <a:latin typeface="Georgia"/>
              </a:rPr>
              <a:t>Phase-2 joint grid (32 configs: clustering × metric × pca_k × τ × k) tuned on 2008–2016; selected config held fixed for 2017–2021. Full-sample run under tag oos_final (662 anchors).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00200"/>
            <a:ext cx="347472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Avenir Next"/>
              </a:rPr>
              <a:t>TRANCHED EQUITY CURVES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52D"/>
                </a:solidFill>
                <a:latin typeface="Georgia"/>
              </a:rPr>
              <a:t>Overlap-corrected daily curves (mean across active 20-day sleeves per date) + a non-overlapping check; whole-sample annualized Sharpe — no compounding of overlapping windows.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94760"/>
            <a:ext cx="347472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Avenir Next"/>
              </a:rPr>
              <a:t>BLOCK-BOOTSTRAP SIGNIFICANCE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52D"/>
                </a:solidFill>
                <a:latin typeface="Georgia"/>
              </a:rPr>
              <a:t>Moving-block bootstrap of Sharpe differences (block = 20 days = horizon, 5k–20k resamples) on the held-out daily series — respects serial correlation from overlapping tranches.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794760"/>
            <a:ext cx="347472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Avenir Next"/>
              </a:rPr>
              <a:t>REAL BASELINES, IDENTICAL ANCHORS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52D"/>
                </a:solidFill>
                <a:latin typeface="Georgia"/>
              </a:rPr>
              <a:t>Ledoit-Wolf / OAS / EWMA evaluated post-hoc on the same dates, imputation, SPD floor and GMVP construction; pooled walk-forward HAR (Corsi 2009) for the volatility target, refit every 20 days.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794760"/>
            <a:ext cx="347472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Avenir Next"/>
              </a:rPr>
              <a:t>REGIME-CONDITIONAL PROTOCOL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52D"/>
                </a:solidFill>
                <a:latin typeface="Georgia"/>
              </a:rPr>
              <a:t>Any conditional rule tuned strictly on 2008–2016, tested once on 2017–2021; conditioning variables restricted to trailing-window (ex-ante) statistics and the model’s own filtered regimes.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A6371"/>
                </a:solidFill>
                <a:latin typeface="Avenir Next"/>
              </a:rPr>
              <a:t>All numbers frozen Jul 27, 2026  ·  result tags: oos_final (covariance), regime_cov_renorm (full-sample renorm), vol_oos (volatility)  ·  every fix and evaluator is a committed script in the repo.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4A8A"/>
                </a:solidFill>
                <a:latin typeface="Avenir Next"/>
              </a:rPr>
              <a:t>4 · RESULT 1 — PORTFOLIO PERFORMANCE (HELD-OUT)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252D"/>
                </a:solidFill>
                <a:latin typeface="Georgia"/>
              </a:rPr>
              <a:t>Statistical parity on GMVP Sharpe — and the model is the worst minimum-variance portfolio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47472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B4A8A"/>
                </a:solidFill>
                <a:latin typeface="Avenir Next"/>
              </a:rPr>
              <a:t>0.582 vs 0.635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1"/>
                </a:solidFill>
                <a:latin typeface="Avenir Next"/>
              </a:rPr>
              <a:t>held-out daily Sharpe, model vs persistence (EWMA 0.632, mix 0.597, roll 0.566)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91640"/>
            <a:ext cx="347472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B4A8A"/>
                </a:solidFill>
                <a:latin typeface="Avenir Next"/>
              </a:rPr>
              <a:t>p ≥ 0.70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1"/>
                </a:solidFill>
                <a:latin typeface="Avenir Next"/>
              </a:rPr>
              <a:t>every model−baseline Sharpe gap, moving-block bootstrap — ties, in both directions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91640"/>
            <a:ext cx="347472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A8433F"/>
                </a:solidFill>
                <a:latin typeface="Avenir Next"/>
              </a:rPr>
              <a:t>9.9 × 10⁻⁵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1"/>
                </a:solidFill>
                <a:latin typeface="Avenir Next"/>
              </a:rPr>
              <a:t>model ex-post GMVP variance — the highest of all methods (others 8.8–9.2)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10881360" cy="2926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150" b="0" i="0">
                <a:solidFill>
                  <a:srgbClr val="1F252D"/>
                </a:solidFill>
                <a:latin typeface="Georgia"/>
              </a:rPr>
              <a:t>Tranched daily Sharpe, GFC included: tuning-era model 0.694 vs pers 0.750; </a:t>
            </a:r>
            <a:r>
              <a:rPr sz="1150" b="1" i="0">
                <a:solidFill>
                  <a:srgbClr val="1F252D"/>
                </a:solidFill>
                <a:latin typeface="Georgia"/>
              </a:rPr>
              <a:t>held-out model 0.582 vs pers 0.635</a:t>
            </a:r>
            <a:r>
              <a:rPr sz="1150" b="0" i="0">
                <a:solidFill>
                  <a:srgbClr val="1F252D"/>
                </a:solidFill>
                <a:latin typeface="Georgia"/>
              </a:rPr>
              <a:t> (Δ = −0.053, p = 0.70, CI [−0.27, +0.20]); full-sample 0.654 vs 0.707. Persistence leads every point estimate; nothing is significant either way — the accurate claim is parity, with low power on ~1,255 noisy days.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150" b="0" i="0">
                <a:solidFill>
                  <a:srgbClr val="1F252D"/>
                </a:solidFill>
                <a:latin typeface="Georgia"/>
              </a:rPr>
              <a:t>Terminal wealth, full sample: model 1.88 vs pers 1.82 (≈9%/yr both) — nearly tied, nothing like the retracted 9.47 curve.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150" b="1" i="0">
                <a:solidFill>
                  <a:srgbClr val="1F252D"/>
                </a:solidFill>
                <a:latin typeface="Georgia"/>
              </a:rPr>
              <a:t>The structural problem: </a:t>
            </a:r>
            <a:r>
              <a:rPr sz="1150" b="0" i="0">
                <a:solidFill>
                  <a:srgbClr val="1F252D"/>
                </a:solidFill>
                <a:latin typeface="Georgia"/>
              </a:rPr>
              <a:t>GMVP is a variance-minimization exercise, and the model produces the highest ex-post portfolio variance of the five core methods. Its Sharpe parity therefore comes from the return side — which a covariance forecast does not predict and GMVP does not optimize. Unexplained; a factor-tilt decomposition has not been done. This is the natural referee attack surface.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4A8A"/>
                </a:solidFill>
                <a:latin typeface="Avenir Next"/>
              </a:rPr>
              <a:t>5 · RESULT 2 — AGAINST REAL BASELINES (HELD-OUT 2017–21)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252D"/>
                </a:solidFill>
                <a:latin typeface="Georgia"/>
              </a:rPr>
              <a:t>No home metric: each axis is owned by a different method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789920" cy="306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1417320"/>
                <a:gridCol w="1234440"/>
                <a:gridCol w="1234440"/>
                <a:gridCol w="1417320"/>
                <a:gridCol w="3566160"/>
              </a:tblGrid>
              <a:tr h="437605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5A6371"/>
                          </a:solidFill>
                          <a:latin typeface="Avenir Next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solidFill>
                      <a:srgbClr val="EDE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A6371"/>
                          </a:solidFill>
                          <a:latin typeface="Avenir Next"/>
                        </a:rPr>
                        <a:t>GMVP SHARPE</a:t>
                      </a:r>
                    </a:p>
                  </a:txBody>
                  <a:tcPr marL="73152" marR="73152" marT="36576" marB="36576" anchor="ctr">
                    <a:solidFill>
                      <a:srgbClr val="EDE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A6371"/>
                          </a:solidFill>
                          <a:latin typeface="Avenir Next"/>
                        </a:rPr>
                        <a:t>STEIN ↓</a:t>
                      </a:r>
                    </a:p>
                  </a:txBody>
                  <a:tcPr marL="73152" marR="73152" marT="36576" marB="36576" anchor="ctr">
                    <a:solidFill>
                      <a:srgbClr val="EDE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A6371"/>
                          </a:solidFill>
                          <a:latin typeface="Avenir Next"/>
                        </a:rPr>
                        <a:t>KL ↓</a:t>
                      </a:r>
                    </a:p>
                  </a:txBody>
                  <a:tcPr marL="73152" marR="73152" marT="36576" marB="36576" anchor="ctr">
                    <a:solidFill>
                      <a:srgbClr val="EDE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A6371"/>
                          </a:solidFill>
                          <a:latin typeface="Avenir Next"/>
                        </a:rPr>
                        <a:t>FROBENIUS ↓</a:t>
                      </a:r>
                    </a:p>
                  </a:txBody>
                  <a:tcPr marL="73152" marR="73152" marT="36576" marB="36576" anchor="ctr">
                    <a:solidFill>
                      <a:srgbClr val="EDE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5A6371"/>
                          </a:solidFill>
                          <a:latin typeface="Avenir Next"/>
                        </a:rPr>
                        <a:t>READ</a:t>
                      </a:r>
                    </a:p>
                  </a:txBody>
                  <a:tcPr marL="73152" marR="73152" marT="36576" marB="36576" anchor="ctr">
                    <a:solidFill>
                      <a:srgbClr val="EDEAF5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Persistence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B7A5C"/>
                          </a:solidFill>
                          <a:latin typeface="Georgia"/>
                        </a:rPr>
                        <a:t>0.635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2.2×10⁶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1.1×10⁶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0.0295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1">
                          <a:solidFill>
                            <a:srgbClr val="5A6371"/>
                          </a:solidFill>
                          <a:latin typeface="Georgia"/>
                        </a:rPr>
                        <a:t>Best portfolio, catastrophic matrices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EWMA (0.94)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0.632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1.1×10⁶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5.5×10⁵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0.0272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1">
                          <a:solidFill>
                            <a:srgbClr val="5A6371"/>
                          </a:solidFill>
                          <a:latin typeface="Georgia"/>
                        </a:rPr>
                        <a:t>≈ persistence, one line of 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52D"/>
                          </a:solidFill>
                          <a:latin typeface="Georgia"/>
                        </a:rPr>
                        <a:t>Model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F252D"/>
                          </a:solidFill>
                          <a:latin typeface="Georgia"/>
                        </a:rPr>
                        <a:t>0.582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F252D"/>
                          </a:solidFill>
                          <a:latin typeface="Georgia"/>
                        </a:rPr>
                        <a:t>1095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F252D"/>
                          </a:solidFill>
                          <a:latin typeface="Georgia"/>
                        </a:rPr>
                        <a:t>548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3B7A5C"/>
                          </a:solidFill>
                          <a:latin typeface="Georgia"/>
                        </a:rPr>
                        <a:t>0.0252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1">
                          <a:solidFill>
                            <a:srgbClr val="5A6371"/>
                          </a:solidFill>
                          <a:latin typeface="Georgia"/>
                        </a:rPr>
                        <a:t>Tied on Sharpe; wins only Frobenius, marginally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Rolling (50)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0.566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1.1×10⁶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5.5×10⁵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0.0280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1">
                          <a:solidFill>
                            <a:srgbClr val="5A6371"/>
                          </a:solidFill>
                          <a:latin typeface="Georgia"/>
                        </a:rPr>
                        <a:t>The naive window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Ledoit-Wolf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0.549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B7A5C"/>
                          </a:solidFill>
                          <a:latin typeface="Georgia"/>
                        </a:rPr>
                        <a:t>839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B7A5C"/>
                          </a:solidFill>
                          <a:latin typeface="Georgia"/>
                        </a:rPr>
                        <a:t>420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0.0260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1">
                          <a:solidFill>
                            <a:srgbClr val="5A6371"/>
                          </a:solidFill>
                          <a:latin typeface="Georgia"/>
                        </a:rPr>
                        <a:t>Beats the model on Stein and KL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761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OAS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0.554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869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434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52D"/>
                          </a:solidFill>
                          <a:latin typeface="Georgia"/>
                        </a:rPr>
                        <a:t>0.0265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1">
                          <a:solidFill>
                            <a:srgbClr val="5A6371"/>
                          </a:solidFill>
                          <a:latin typeface="Georgia"/>
                        </a:rPr>
                        <a:t>Same story as Ledoit-Wolf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92040"/>
            <a:ext cx="10881360" cy="1463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100" b="0" i="0">
                <a:solidFill>
                  <a:srgbClr val="1F252D"/>
                </a:solidFill>
                <a:latin typeface="Georgia"/>
              </a:rPr>
              <a:t>The model’s Stein/KL advantage exists only against rolling/persistence and the γ=0.3 strawman — </a:t>
            </a:r>
            <a:r>
              <a:rPr sz="1100" b="1" i="0">
                <a:solidFill>
                  <a:srgbClr val="1F252D"/>
                </a:solidFill>
                <a:latin typeface="Georgia"/>
              </a:rPr>
              <a:t>real Ledoit-Wolf beats it on the likelihood losses</a:t>
            </a:r>
            <a:r>
              <a:rPr sz="1100" b="0" i="0">
                <a:solidFill>
                  <a:srgbClr val="1F252D"/>
                </a:solidFill>
                <a:latin typeface="Georgia"/>
              </a:rPr>
              <a:t>. All pairwise Sharpe differences remain statistical ties (p = 0.70–0.78 vs LW/OAS/EWMA).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100" b="0" i="0">
                <a:solidFill>
                  <a:srgbClr val="1F252D"/>
                </a:solidFill>
                <a:latin typeface="Georgia"/>
              </a:rPr>
              <a:t>Volatility target (tag vol_oos), held-out MSE / R²: </a:t>
            </a:r>
            <a:r>
              <a:rPr sz="1100" b="1" i="0">
                <a:solidFill>
                  <a:srgbClr val="1F252D"/>
                </a:solidFill>
                <a:latin typeface="Georgia"/>
              </a:rPr>
              <a:t>HAR 0.176 / −0.03 vs model 0.334 / −0.24</a:t>
            </a:r>
            <a:r>
              <a:rPr sz="1100" b="0" i="0">
                <a:solidFill>
                  <a:srgbClr val="1F252D"/>
                </a:solidFill>
                <a:latin typeface="Georgia"/>
              </a:rPr>
              <a:t> — HAR halves the model’s error; the model’s held-out vol R² is negative. The draft’s vol claim (0.233 / +0.16) was in-sample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4A8A"/>
                </a:solidFill>
                <a:latin typeface="Avenir Next"/>
              </a:rPr>
              <a:t>6 · RESULT 3 — REGIME-CONDITIONAL ANALYSIS (YOUR JUL 25 SUGGESTION, TESTED)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252D"/>
                </a:solidFill>
                <a:latin typeface="Georgia"/>
              </a:rPr>
              <a:t>No ex-ante conditional win — but a real, era-consistent (and reversed)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47472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B4A8A"/>
                </a:solidFill>
                <a:latin typeface="Avenir Next"/>
              </a:rPr>
              <a:t>1.435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1"/>
                </a:solidFill>
                <a:latin typeface="Avenir Next"/>
              </a:rPr>
              <a:t>model’s non-crisis Sharpe — best of all 5 methods; in every stress window it is worst, with the highest realized vol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91640"/>
            <a:ext cx="347472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B4A8A"/>
                </a:solidFill>
                <a:latin typeface="Avenir Next"/>
              </a:rPr>
              <a:t>0.617 vs 0.635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1"/>
                </a:solidFill>
                <a:latin typeface="Avenir Next"/>
              </a:rPr>
              <a:t>best honestly-tuned switching rule, held-out, vs just holding persistence (p = 0.79)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91640"/>
            <a:ext cx="347472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A8433F"/>
                </a:solidFill>
                <a:latin typeface="Avenir Next"/>
              </a:rPr>
              <a:t>0.954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1"/>
                </a:solidFill>
                <a:latin typeface="Avenir Next"/>
              </a:rPr>
              <a:t>model–persistence daily return correlation — ensembles have nothing to diversify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6766560" cy="3017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50" b="1" i="0">
                <a:solidFill>
                  <a:srgbClr val="1F252D"/>
                </a:solidFill>
                <a:latin typeface="Georgia"/>
              </a:rPr>
              <a:t>Descriptive (concurrent conditions): </a:t>
            </a:r>
            <a:r>
              <a:rPr sz="1050" b="0" i="0">
                <a:solidFill>
                  <a:srgbClr val="1F252D"/>
                </a:solidFill>
                <a:latin typeface="Georgia"/>
              </a:rPr>
              <a:t>the model earns its entire edge in calm markets (non-crisis TW 6.66 vs pers 5.22) and gives it back in every stress window (GFC, COVID, high-correlation terciles). This reverses the draft’s “superior accuracy in stress” narrative.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50" b="1" i="0">
                <a:solidFill>
                  <a:srgbClr val="1F252D"/>
                </a:solidFill>
                <a:latin typeface="Georgia"/>
              </a:rPr>
              <a:t>Ex-ante (the tradeable question): </a:t>
            </a:r>
            <a:r>
              <a:rPr sz="1050" b="0" i="0">
                <a:solidFill>
                  <a:srgbClr val="1F252D"/>
                </a:solidFill>
                <a:latin typeface="Georgia"/>
              </a:rPr>
              <a:t>13 switching rules + capital-split ensembles, tuned on 2008–16 only — all collapse back to persistence held-out. Trailing statistics cannot predict the favorable conditions (trailing→future correlation r ≈ 0.41).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50" b="1" i="0">
                <a:solidFill>
                  <a:srgbClr val="A8433F"/>
                </a:solidFill>
                <a:latin typeface="Georgia"/>
              </a:rPr>
              <a:t>Look-ahead caution (worth reporting): </a:t>
            </a:r>
            <a:r>
              <a:rPr sz="1050" b="0" i="0">
                <a:solidFill>
                  <a:srgbClr val="1F252D"/>
                </a:solidFill>
                <a:latin typeface="Georgia"/>
              </a:rPr>
              <a:t>the backtest’s realized_vol / avg_corr columns are computed over the future horizon window (regime-labeling descriptors). Conditioning on them “produces” OOS Sharpe 0.773, p ≈ 0.01–0.03 — entirely fabricated. A useful cautionary example for conditional-performance claims.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50" b="1" i="0">
                <a:solidFill>
                  <a:srgbClr val="1F252D"/>
                </a:solidFill>
                <a:latin typeface="Georgia"/>
              </a:rPr>
              <a:t>One era-consistent pocket: </a:t>
            </a:r>
            <a:r>
              <a:rPr sz="1050" b="0" i="0">
                <a:solidFill>
                  <a:srgbClr val="1F252D"/>
                </a:solidFill>
                <a:latin typeface="Georgia"/>
              </a:rPr>
              <a:t>the model’s own “Normal” regime (right) — beats all four baselines in both eras; insignificant; ~15–20% of days.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26679" y="3200400"/>
          <a:ext cx="379476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1097280"/>
                <a:gridCol w="109728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5A6371"/>
                          </a:solidFill>
                          <a:latin typeface="Avenir Next"/>
                        </a:rPr>
                        <a:t>REGIME (EX-ANTE)</a:t>
                      </a:r>
                    </a:p>
                  </a:txBody>
                  <a:tcPr marL="73152" marR="73152" marT="36576" marB="36576" anchor="ctr">
                    <a:solidFill>
                      <a:srgbClr val="EDE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5A6371"/>
                          </a:solidFill>
                          <a:latin typeface="Avenir Next"/>
                        </a:rPr>
                        <a:t>08–16 Δ</a:t>
                      </a:r>
                    </a:p>
                  </a:txBody>
                  <a:tcPr marL="73152" marR="73152" marT="36576" marB="36576" anchor="ctr">
                    <a:solidFill>
                      <a:srgbClr val="EDE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5A6371"/>
                          </a:solidFill>
                          <a:latin typeface="Avenir Next"/>
                        </a:rPr>
                        <a:t>17–21 Δ</a:t>
                      </a:r>
                    </a:p>
                  </a:txBody>
                  <a:tcPr marL="73152" marR="73152" marT="36576" marB="36576" anchor="ctr">
                    <a:solidFill>
                      <a:srgbClr val="EDEA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Calm Bull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+0.09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−0.15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High Stress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A8433F"/>
                          </a:solidFill>
                          <a:latin typeface="Georgia"/>
                        </a:rPr>
                        <a:t>−0.30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A8433F"/>
                          </a:solidFill>
                          <a:latin typeface="Georgia"/>
                        </a:rPr>
                        <a:t>−0.04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Moderate Bull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−0.19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252D"/>
                          </a:solidFill>
                          <a:latin typeface="Georgia"/>
                        </a:rPr>
                        <a:t>−0.09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252D"/>
                          </a:solidFill>
                          <a:latin typeface="Georgia"/>
                        </a:rPr>
                        <a:t>Normal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3B7A5C"/>
                          </a:solidFill>
                          <a:latin typeface="Georgia"/>
                        </a:rPr>
                        <a:t>+0.22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3B7A5C"/>
                          </a:solidFill>
                          <a:latin typeface="Georgia"/>
                        </a:rPr>
                        <a:t>+0.13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26679" y="5623560"/>
            <a:ext cx="379476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A6371"/>
                </a:solidFill>
                <a:latin typeface="Avenir Next"/>
              </a:rPr>
              <a:t>Model − persistence Sharpe gap by the model’s own filtered regime. “Normal” is the only sign-stable cell.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4A8A"/>
                </a:solidFill>
                <a:latin typeface="Avenir Next"/>
              </a:rPr>
              <a:t>7 ·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252D"/>
                </a:solidFill>
                <a:latin typeface="Georgia"/>
              </a:rPr>
              <a:t>A statistical-vs-economic disconnect — and an honest audit of the regime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2834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150" b="1" i="0">
                <a:solidFill>
                  <a:srgbClr val="1F252D"/>
                </a:solidFill>
                <a:latin typeface="Georgia"/>
              </a:rPr>
              <a:t>The disconnect: </a:t>
            </a:r>
            <a:r>
              <a:rPr sz="1150" b="0" i="0">
                <a:solidFill>
                  <a:srgbClr val="1F252D"/>
                </a:solidFill>
                <a:latin typeface="Georgia"/>
              </a:rPr>
              <a:t>covariance forecast accuracy does not determine portfolio outcome. Persistence is catastrophically wrong as a matrix (Stein 2.2×10⁶ vs Ledoit-Wolf’s 839) yet builds the best GMVP; our model wins Frobenius yet builds the highest-variance portfolio. Matrix losses and Σ⁻¹-based portfolio construction punish different errors, and the return side is outside the model class entirely. The regime analysis adds the “when”: the disconnect bites hardest in stress.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150" b="1" i="0">
                <a:solidFill>
                  <a:srgbClr val="1F252D"/>
                </a:solidFill>
                <a:latin typeface="Georgia"/>
              </a:rPr>
              <a:t>The regime layer, audited: </a:t>
            </a:r>
            <a:r>
              <a:rPr sz="1150" b="0" i="0">
                <a:solidFill>
                  <a:srgbClr val="1F252D"/>
                </a:solidFill>
                <a:latin typeface="Georgia"/>
              </a:rPr>
              <a:t>the Markov filter is numerically inert on this data (filtered vs raw posteriors differ &lt; 10⁻⁸; transition matrix near-uniform). Hard-assignment persistence is 28–33% vs a 25% chance level. The single direct test of the layer — K=4 vs K=1 at the final config, held-out, block-bootstrapped — has not been run (cheap on scai4).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ED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5B4A8A"/>
                </a:solidFill>
                <a:latin typeface="Avenir Next"/>
              </a:rPr>
              <a:t>DEFENSIBLE CONTRIBUTIONS AS OF TODAY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52D"/>
                </a:solidFill>
                <a:latin typeface="Georgia"/>
              </a:rPr>
              <a:t>(1) A modular regime-aware similarity framework that matches Ledoit-Wolf / OAS / EWMA / HAR on a validated, honest OOS harness;  (2) an era-consistent regime diagnostic of when similarity forecasting helps (Normal / calm) and when it hurts (stress);  (3) the documented statistical-vs-economic disconnect, plus a reproducible look-ahead cautionary example for “wins in condition X” claims.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4A8A"/>
                </a:solidFill>
                <a:latin typeface="Avenir Next"/>
              </a:rPr>
              <a:t>8 · PAPER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252D"/>
                </a:solidFill>
                <a:latin typeface="Georgia"/>
              </a:rPr>
              <a:t>The Overleaf draft still asserts the April claims — the rewrite has not started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303520" cy="39776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A8433F"/>
                </a:solidFill>
                <a:latin typeface="Avenir Next"/>
              </a:rPr>
              <a:t>CURRENTLY IN THE DRAFT (19 pp, single-column)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00" b="0" i="0">
                <a:solidFill>
                  <a:srgbClr val="1F252D"/>
                </a:solidFill>
                <a:latin typeface="Georgia"/>
              </a:rPr>
              <a:t>Headline: GMVP Sharpe 1.57 vs 1.00, “significant vs all baselines” (Wilcoxon)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00" b="0" i="0">
                <a:solidFill>
                  <a:srgbClr val="1F252D"/>
                </a:solidFill>
                <a:latin typeface="Georgia"/>
              </a:rPr>
              <a:t>Equity curve with terminal wealth 9.47 (the 4× double-count)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00" b="0" i="0">
                <a:solidFill>
                  <a:srgbClr val="1F252D"/>
                </a:solidFill>
                <a:latin typeface="Georgia"/>
              </a:rPr>
              <a:t>“Superior forecast accuracy in stress periods” — now known to be reversed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00" b="0" i="0">
                <a:solidFill>
                  <a:srgbClr val="1F252D"/>
                </a:solidFill>
                <a:latin typeface="Georgia"/>
              </a:rPr>
              <a:t>Volatility MSE 0.233 / R² 0.16 — in-sample only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00" b="0" i="0">
                <a:solidFill>
                  <a:srgbClr val="1F252D"/>
                </a:solidFill>
                <a:latin typeface="Georgia"/>
              </a:rPr>
              <a:t>Fixed-γ strawman presented as “shrinkage”; LW &amp; HAR cited but absent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00" b="0" i="0">
                <a:solidFill>
                  <a:srgbClr val="1F252D"/>
                </a:solidFill>
                <a:latin typeface="Georgia"/>
              </a:rPr>
              <a:t>Sharpes of 0.996 / 1.079 / 1.943 / 1.815 with inconsistent sample labels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00" b="0" i="0">
                <a:solidFill>
                  <a:srgbClr val="1F252D"/>
                </a:solidFill>
                <a:latin typeface="Georgia"/>
              </a:rPr>
              <a:t>Names, “Supervisor: Mihai Cucuringu”, personal GitHub link on the title page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5303520" cy="39776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3B7A5C"/>
                </a:solidFill>
                <a:latin typeface="Avenir Next"/>
              </a:rPr>
              <a:t>REQUIRED BEFORE SUBMISSION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00" b="0" i="0">
                <a:solidFill>
                  <a:srgbClr val="1F252D"/>
                </a:solidFill>
                <a:latin typeface="Georgia"/>
              </a:rPr>
              <a:t>Rewrite abstract / intro / results around parity + the regime diagnostic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00" b="0" i="0">
                <a:solidFill>
                  <a:srgbClr val="1F252D"/>
                </a:solidFill>
                <a:latin typeface="Georgia"/>
              </a:rPr>
              <a:t>Cut to ~8 pp ACM sigconf, double-blind (≈half the content; data-QC &amp; ablation narrative → appendix/arXiv)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00" b="0" i="0">
                <a:solidFill>
                  <a:srgbClr val="1F252D"/>
                </a:solidFill>
                <a:latin typeface="Georgia"/>
              </a:rPr>
              <a:t>Survivorship disclosure: universe requires ≥85% availability in 2015–21 (incl. NVDA) for a 2008 backtest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00" b="0" i="0">
                <a:solidFill>
                  <a:srgbClr val="1F252D"/>
                </a:solidFill>
                <a:latin typeface="Georgia"/>
              </a:rPr>
              <a:t>Disclose tuning samples for γ=0.12, λ=0.08, and the mix weights (else leakage)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00" b="0" i="0">
                <a:solidFill>
                  <a:srgbClr val="1F252D"/>
                </a:solidFill>
                <a:latin typeface="Georgia"/>
              </a:rPr>
              <a:t>Fix Table 6 significance stars; make sign conventions consistent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00" b="0" i="0">
                <a:solidFill>
                  <a:srgbClr val="1F252D"/>
                </a:solidFill>
                <a:latin typeface="Georgia"/>
              </a:rPr>
              <a:t>Report gross leverage of the long-short GMVP (confounds Sharpe &amp; turnover)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00" b="0" i="0">
                <a:solidFill>
                  <a:srgbClr val="1F252D"/>
                </a:solidFill>
                <a:latin typeface="Georgia"/>
              </a:rPr>
              <a:t>Anonymize; phrase the Cartea et al. (2023) relationship neutrally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252D"/>
                </a:solidFill>
                <a:latin typeface="Avenir Next"/>
              </a:rPr>
              <a:t>Venue: ICAIF 2026, Milan, Nov 14–17  ·  full papers Aug 2 AoE, 8 pp incl. references  ·  double-blind, no rebuttal, notification Sept 27.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4A8A"/>
                </a:solidFill>
                <a:latin typeface="Avenir Next"/>
              </a:rPr>
              <a:t>9 · KNOWN LIMITATIONS (TO BE STATED IN ANY SUBMITTED VERSION)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252D"/>
                </a:solidFill>
                <a:latin typeface="Georgia"/>
              </a:rPr>
              <a:t>What the current evidence does and does not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4805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50" b="1" i="0">
                <a:solidFill>
                  <a:srgbClr val="1F252D"/>
                </a:solidFill>
                <a:latin typeface="Georgia"/>
              </a:rPr>
              <a:t>Survivorship / look-ahead universe: </a:t>
            </a:r>
            <a:r>
              <a:rPr sz="1050" b="0" i="0">
                <a:solidFill>
                  <a:srgbClr val="1F252D"/>
                </a:solidFill>
                <a:latin typeface="Georgia"/>
              </a:rPr>
              <a:t>stocks selected for ≥85% availability in 2015–2021, for a backtest starting 2008. Cross-method comparisons on the shared universe remain internally fair, but absolute performance levels are inflated. Needs prominent disclosure — or a rebuilt universe (v2).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50" b="1" i="0">
                <a:solidFill>
                  <a:srgbClr val="1F252D"/>
                </a:solidFill>
                <a:latin typeface="Georgia"/>
              </a:rPr>
              <a:t>Unexplained return side: </a:t>
            </a:r>
            <a:r>
              <a:rPr sz="1050" b="0" i="0">
                <a:solidFill>
                  <a:srgbClr val="1F252D"/>
                </a:solidFill>
                <a:latin typeface="Georgia"/>
              </a:rPr>
              <a:t>the model’s Sharpe parity coexists with the worst ex-post variance; whatever return effect keeps it competitive is not modeled and has not been decomposed into factor exposures.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50" b="1" i="0">
                <a:solidFill>
                  <a:srgbClr val="1F252D"/>
                </a:solidFill>
                <a:latin typeface="Georgia"/>
              </a:rPr>
              <a:t>Leverage unreported: </a:t>
            </a:r>
            <a:r>
              <a:rPr sz="1050" b="0" i="0">
                <a:solidFill>
                  <a:srgbClr val="1F252D"/>
                </a:solidFill>
                <a:latin typeface="Georgia"/>
              </a:rPr>
              <a:t>the GMVP is long-short with time-varying gross exposure ‖Σ⁻¹𝟙‖; leverage differences confound Sharpe and turnover comparisons across methods. Long-only variant exists in the codebase as a robustness check.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50" b="1" i="0">
                <a:solidFill>
                  <a:srgbClr val="1F252D"/>
                </a:solidFill>
                <a:latin typeface="Georgia"/>
              </a:rPr>
              <a:t>Endogenous regimes: </a:t>
            </a:r>
            <a:r>
              <a:rPr sz="1050" b="0" i="0">
                <a:solidFill>
                  <a:srgbClr val="1F252D"/>
                </a:solidFill>
                <a:latin typeface="Georgia"/>
              </a:rPr>
              <a:t>regimes are functions of the same return windows the forecaster uses — they describe the data, they do not add outside information. Exogenous conditioning (VIX term structure, credit spreads, strictly lagged) is the natural v2 spine, with its own tune/hold-out cycle.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50" b="1" i="0">
                <a:solidFill>
                  <a:srgbClr val="1F252D"/>
                </a:solidFill>
                <a:latin typeface="Georgia"/>
              </a:rPr>
              <a:t>Power: </a:t>
            </a:r>
            <a:r>
              <a:rPr sz="1050" b="0" i="0">
                <a:solidFill>
                  <a:srgbClr val="1F252D"/>
                </a:solidFill>
                <a:latin typeface="Georgia"/>
              </a:rPr>
              <a:t>~1,255 held-out days of correlated returns; p ≈ 0.7 means “no detectable difference,” not “proven equal.” Parity is the claim, stated as such.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4A8A"/>
                </a:solidFill>
                <a:latin typeface="Georgia"/>
              </a:rPr>
              <a:t>•  </a:t>
            </a:r>
            <a:r>
              <a:rPr sz="1050" b="1" i="0">
                <a:solidFill>
                  <a:srgbClr val="1F252D"/>
                </a:solidFill>
                <a:latin typeface="Georgia"/>
              </a:rPr>
              <a:t>Regime stability: </a:t>
            </a:r>
            <a:r>
              <a:rPr sz="1050" b="0" i="0">
                <a:solidFill>
                  <a:srgbClr val="1F252D"/>
                </a:solidFill>
                <a:latin typeface="Georgia"/>
              </a:rPr>
              <a:t>consecutive windows share 47–49 of 50 days yet hard assignments flip near chance — more consistent with cluster instability than fast regime switching; membership-entropy and seed-sensitivity diagnostics are still open.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4A8A"/>
                </a:solidFill>
                <a:latin typeface="Avenir Next"/>
              </a:rPr>
              <a:t>10 · DECISION NEEDED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252D"/>
                </a:solidFill>
                <a:latin typeface="Georgia"/>
              </a:rPr>
              <a:t>Three options for the Aug 2 deadline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5B4A8A"/>
                </a:solidFill>
                <a:latin typeface="Avenir Next"/>
              </a:rPr>
              <a:t>OPTION A — SUBMIT TO ICAIF: “MATCHES STANDARD ESTIMATORS, WITH INTERPRETABLE REGIMES”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52D"/>
                </a:solidFill>
                <a:latin typeface="Georgia"/>
              </a:rPr>
              <a:t>Lead with the framework and the honest parity; the regime diagnostic (Result 3) becomes the most novel section and directly answers the “publishable without beating baselines if there is broader insight” criterion.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433F"/>
                </a:solidFill>
                <a:latin typeface="Georgia"/>
              </a:rPr>
              <a:t>Risk: </a:t>
            </a:r>
            <a:r>
              <a:rPr sz="950" b="0" i="1">
                <a:solidFill>
                  <a:srgbClr val="5A6371"/>
                </a:solidFill>
                <a:latin typeface="Georgia"/>
              </a:rPr>
              <a:t>is “matches + interpretability” above the main-track bar? And the rewrite is heavy — 19 pp → 8 pp with every headline number replaced, in 5 days.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72968"/>
            <a:ext cx="1088136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5B4A8A"/>
                </a:solidFill>
                <a:latin typeface="Avenir Next"/>
              </a:rPr>
              <a:t>OPTION B — SUBMIT TO ICAIF: THE “STATISTICAL-VS-ECONOMIC DISCONNECT” THESIS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52D"/>
                </a:solidFill>
                <a:latin typeface="Georgia"/>
              </a:rPr>
              <a:t>Make the finding the thesis: forecast accuracy does not determine portfolio outcome, and the regime layer explains when the disconnect bites. Same evidence as A with a sharper, more citable claim.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433F"/>
                </a:solidFill>
                <a:latin typeface="Georgia"/>
              </a:rPr>
              <a:t>Risk: </a:t>
            </a:r>
            <a:r>
              <a:rPr sz="950" b="0" i="1">
                <a:solidFill>
                  <a:srgbClr val="5A6371"/>
                </a:solidFill>
                <a:latin typeface="Georgia"/>
              </a:rPr>
              <a:t>a negative-flavored thesis is the hardest 5-day writing job; must not read as “our method failed, here is a consolation insight.”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45736"/>
            <a:ext cx="1088136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5B4A8A"/>
                </a:solidFill>
                <a:latin typeface="Avenir Next"/>
              </a:rPr>
              <a:t>OPTION C — SKIP AUG 2; BUILD THE V2 WITH EXOGENOUS REGIMES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52D"/>
                </a:solidFill>
                <a:latin typeface="Georgia"/>
              </a:rPr>
              <a:t>The analysis specifies the winning version: regimes conditioned on strictly-lagged exogenous state (VIX level/term structure, credit spreads) — trailing return statistics demonstrably cannot predict the model’s favorable conditions (r ≈ 0.41). Target ICAIF workshops (~Sept–Oct) or a journal.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433F"/>
                </a:solidFill>
                <a:latin typeface="Georgia"/>
              </a:rPr>
              <a:t>Risk: </a:t>
            </a:r>
            <a:r>
              <a:rPr sz="950" b="0" i="1">
                <a:solidFill>
                  <a:srgbClr val="5A6371"/>
                </a:solidFill>
                <a:latin typeface="Georgia"/>
              </a:rPr>
              <a:t>momentum, and course/co-author timelines — the empirical work is frozen now.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4A8A"/>
                </a:solidFill>
                <a:latin typeface="Avenir Next"/>
              </a:rPr>
              <a:t>11 · 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252D"/>
                </a:solidFill>
                <a:latin typeface="Georgia"/>
              </a:rPr>
              <a:t>What I need from this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2062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5B4A8A"/>
                </a:solidFill>
                <a:latin typeface="Avenir Next"/>
              </a:rPr>
              <a:t>1.  </a:t>
            </a:r>
            <a:r>
              <a:rPr sz="1200" b="1" i="0">
                <a:solidFill>
                  <a:srgbClr val="1F252D"/>
                </a:solidFill>
                <a:latin typeface="Georgia"/>
              </a:rPr>
              <a:t>Recommendation: A, B, or C?</a:t>
            </a:r>
            <a:r>
              <a:rPr sz="1200" b="0" i="0">
                <a:solidFill>
                  <a:srgbClr val="1F252D"/>
                </a:solidFill>
                <a:latin typeface="Georgia"/>
              </a:rPr>
              <a:t>  If submitting — does the regime diagnostic + disconnect meet your “broader methodological insight” bar for a paper that does not beat baselines?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5B4A8A"/>
                </a:solidFill>
                <a:latin typeface="Avenir Next"/>
              </a:rPr>
              <a:t>2.  </a:t>
            </a:r>
            <a:r>
              <a:rPr sz="1200" b="1" i="0">
                <a:solidFill>
                  <a:srgbClr val="1F252D"/>
                </a:solidFill>
                <a:latin typeface="Georgia"/>
              </a:rPr>
              <a:t>Rewrite feasibility &amp; division of labor:</a:t>
            </a:r>
            <a:r>
              <a:rPr sz="1200" b="0" i="0">
                <a:solidFill>
                  <a:srgbClr val="1F252D"/>
                </a:solidFill>
                <a:latin typeface="Georgia"/>
              </a:rPr>
              <a:t>  19 pp → 8 pp ACM with every result replaced, by Sunday. Realistic? Who writes what — me, Gigi, Bree?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5B4A8A"/>
                </a:solidFill>
                <a:latin typeface="Avenir Next"/>
              </a:rPr>
              <a:t>3.  </a:t>
            </a:r>
            <a:r>
              <a:rPr sz="1200" b="1" i="0">
                <a:solidFill>
                  <a:srgbClr val="1F252D"/>
                </a:solidFill>
                <a:latin typeface="Georgia"/>
              </a:rPr>
              <a:t>The one missing experiment:</a:t>
            </a:r>
            <a:r>
              <a:rPr sz="1200" b="0" i="0">
                <a:solidFill>
                  <a:srgbClr val="1F252D"/>
                </a:solidFill>
                <a:latin typeface="Georgia"/>
              </a:rPr>
              <a:t>  held-out K=4 vs K=1 (regimes vs no regimes) at the final config — the direct test of the regime layer, cheap on scai4. Required for the paper, given the filter is already known to be inert?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5B4A8A"/>
                </a:solidFill>
                <a:latin typeface="Avenir Next"/>
              </a:rPr>
              <a:t>4.  </a:t>
            </a:r>
            <a:r>
              <a:rPr sz="1200" b="1" i="0">
                <a:solidFill>
                  <a:srgbClr val="1F252D"/>
                </a:solidFill>
                <a:latin typeface="Georgia"/>
              </a:rPr>
              <a:t>Survivorship:</a:t>
            </a:r>
            <a:r>
              <a:rPr sz="1200" b="0" i="0">
                <a:solidFill>
                  <a:srgbClr val="1F252D"/>
                </a:solidFill>
                <a:latin typeface="Georgia"/>
              </a:rPr>
              <a:t>  is a prominent disclosure of the 2015–21 availability filter acceptable for this cycle, or do you want the universe rebuilt point-in-time (which pushes to v2)?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5B4A8A"/>
                </a:solidFill>
                <a:latin typeface="Avenir Next"/>
              </a:rPr>
              <a:t>5.  </a:t>
            </a:r>
            <a:r>
              <a:rPr sz="1200" b="1" i="0">
                <a:solidFill>
                  <a:srgbClr val="1F252D"/>
                </a:solidFill>
                <a:latin typeface="Georgia"/>
              </a:rPr>
              <a:t>Authorship, anonymization, fallback:</a:t>
            </a:r>
            <a:r>
              <a:rPr sz="1200" b="0" i="0">
                <a:solidFill>
                  <a:srgbClr val="1F252D"/>
                </a:solidFill>
                <a:latin typeface="Georgia"/>
              </a:rPr>
              <a:t>  are you an author? The paper builds on Cartea, Cucuringu &amp; Jin (2023) — phrasing must not de-anonymize. Who submits? And pre-agree the fallback venue now (notification Sept 27) so a rejection is not a new decision meeting.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A6371"/>
                </a:solidFill>
                <a:latin typeface="Avenir Next"/>
              </a:rPr>
              <a:t>Numbers frozen Jul 27, 2026 · tags oos_final / regime_cov_renorm / vol_oos · full record: ICAIF_REVIEW_FEEDBACK.md · ADVISOR_SUMMARY.md · REGIME_CONDITIONAL_ANALYSIS.md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